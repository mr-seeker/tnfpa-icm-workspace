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Sheet1!$A$2:$A$13</c:f>
              <c:strCache>
                <c:ptCount val="12"/>
                <c:pt idx="0">
                  <c:v>2026-04</c:v>
                </c:pt>
                <c:pt idx="1">
                  <c:v>2026-05</c:v>
                </c:pt>
                <c:pt idx="2">
                  <c:v>2026-06</c:v>
                </c:pt>
                <c:pt idx="3">
                  <c:v>2026-07</c:v>
                </c:pt>
                <c:pt idx="4">
                  <c:v>2026-08</c:v>
                </c:pt>
                <c:pt idx="5">
                  <c:v>2026-09</c:v>
                </c:pt>
                <c:pt idx="6">
                  <c:v>2026-10</c:v>
                </c:pt>
                <c:pt idx="7">
                  <c:v>2026-11</c:v>
                </c:pt>
                <c:pt idx="8">
                  <c:v>2026-12</c:v>
                </c:pt>
                <c:pt idx="9">
                  <c:v>2027-01</c:v>
                </c:pt>
                <c:pt idx="10">
                  <c:v>2027-02</c:v>
                </c:pt>
                <c:pt idx="11">
                  <c:v>2027-03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303.25</c:v>
                </c:pt>
                <c:pt idx="1">
                  <c:v>289.75</c:v>
                </c:pt>
                <c:pt idx="2">
                  <c:v>264.78</c:v>
                </c:pt>
                <c:pt idx="3">
                  <c:v>236.28</c:v>
                </c:pt>
                <c:pt idx="4">
                  <c:v>268.62</c:v>
                </c:pt>
                <c:pt idx="5">
                  <c:v>302.0</c:v>
                </c:pt>
                <c:pt idx="6">
                  <c:v>379.89</c:v>
                </c:pt>
                <c:pt idx="7">
                  <c:v>363.93</c:v>
                </c:pt>
                <c:pt idx="8">
                  <c:v>249.16</c:v>
                </c:pt>
                <c:pt idx="9">
                  <c:v>300.84</c:v>
                </c:pt>
                <c:pt idx="10">
                  <c:v>246.24</c:v>
                </c:pt>
                <c:pt idx="11">
                  <c:v>295.25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B998B"/>
            </a:solidFill>
          </c:spPr>
          <c:cat>
            <c:strRef>
              <c:f>Sheet1!$A$2:$A$13</c:f>
              <c:strCache>
                <c:ptCount val="12"/>
                <c:pt idx="0">
                  <c:v>2026-04</c:v>
                </c:pt>
                <c:pt idx="1">
                  <c:v>2026-05</c:v>
                </c:pt>
                <c:pt idx="2">
                  <c:v>2026-06</c:v>
                </c:pt>
                <c:pt idx="3">
                  <c:v>2026-07</c:v>
                </c:pt>
                <c:pt idx="4">
                  <c:v>2026-08</c:v>
                </c:pt>
                <c:pt idx="5">
                  <c:v>2026-09</c:v>
                </c:pt>
                <c:pt idx="6">
                  <c:v>2026-10</c:v>
                </c:pt>
                <c:pt idx="7">
                  <c:v>2026-11</c:v>
                </c:pt>
                <c:pt idx="8">
                  <c:v>2026-12</c:v>
                </c:pt>
                <c:pt idx="9">
                  <c:v>2027-01</c:v>
                </c:pt>
                <c:pt idx="10">
                  <c:v>2027-02</c:v>
                </c:pt>
                <c:pt idx="11">
                  <c:v>2027-03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56.49</c:v>
                </c:pt>
                <c:pt idx="1">
                  <c:v>51.24</c:v>
                </c:pt>
                <c:pt idx="2">
                  <c:v>42.52</c:v>
                </c:pt>
                <c:pt idx="3">
                  <c:v>33.52</c:v>
                </c:pt>
                <c:pt idx="4">
                  <c:v>44.64</c:v>
                </c:pt>
                <c:pt idx="5">
                  <c:v>55.68</c:v>
                </c:pt>
                <c:pt idx="6">
                  <c:v>81.85</c:v>
                </c:pt>
                <c:pt idx="7">
                  <c:v>76.9</c:v>
                </c:pt>
                <c:pt idx="8">
                  <c:v>38.74</c:v>
                </c:pt>
                <c:pt idx="9">
                  <c:v>56.65</c:v>
                </c:pt>
                <c:pt idx="10">
                  <c:v>37.97</c:v>
                </c:pt>
                <c:pt idx="11">
                  <c:v>52.79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Ending cash</c:v>
                </c:pt>
              </c:strCache>
            </c:strRef>
          </c:tx>
          <c:spPr>
            <a:ln>
              <a:solidFill>
                <a:srgbClr val="1F3864"/>
              </a:solidFill>
            </a:ln>
          </c:spPr>
          <c:cat>
            <c:strRef>
              <c:f>Sheet1!$A$2:$A$14</c:f>
              <c:strCache>
                <c:ptCount val="13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98.45</c:v>
                </c:pt>
                <c:pt idx="1">
                  <c:v>129.25</c:v>
                </c:pt>
                <c:pt idx="2">
                  <c:v>114.75</c:v>
                </c:pt>
                <c:pt idx="3">
                  <c:v>117.85</c:v>
                </c:pt>
                <c:pt idx="4">
                  <c:v>-31.85</c:v>
                </c:pt>
                <c:pt idx="5">
                  <c:v>50.95</c:v>
                </c:pt>
                <c:pt idx="6">
                  <c:v>38.45</c:v>
                </c:pt>
                <c:pt idx="7">
                  <c:v>55.45</c:v>
                </c:pt>
                <c:pt idx="8">
                  <c:v>12.59</c:v>
                </c:pt>
                <c:pt idx="9">
                  <c:v>47.59</c:v>
                </c:pt>
                <c:pt idx="10">
                  <c:v>19.39</c:v>
                </c:pt>
                <c:pt idx="11">
                  <c:v>54.39</c:v>
                </c:pt>
                <c:pt idx="12">
                  <c:v>30.89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Kaveri Chairs Pvt Ltd · Coimbatore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</a:rPr>
              <a:t>Board briefing · FY2026-27 budget (April 2026) · இயக்குநர் குழு அறிக்கை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/>
              <a:t>• Budget delivers ₹35.0 crore revenue and ₹6.29 crore EBITDA; one-week cash dip in May needs a ₹37 lakh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Management (MIS) numbers · ₹ excl. GST · K01 champion kvr-k01-v1-budget / K02 run 2026-04-06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</a:rPr>
              <a:t>₹ lakh · 12 months Apr 2026 – Mar 2027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2651760" cy="2011680"/>
          </a:xfrm>
          <a:prstGeom prst="rect">
            <a:avLst/>
          </a:prstGeom>
          <a:solidFill>
            <a:srgbClr val="F2F5FA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595959"/>
                </a:solidFill>
              </a:rPr>
              <a:t>Revenue</a:t>
            </a:r>
          </a:p>
          <a:p>
            <a:r>
              <a:rPr sz="3000" b="1">
                <a:solidFill>
                  <a:srgbClr val="1F3864"/>
                </a:solidFill>
              </a:rPr>
              <a:t>₹3,500 L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828800"/>
            <a:ext cx="2651760" cy="2011680"/>
          </a:xfrm>
          <a:prstGeom prst="rect">
            <a:avLst/>
          </a:prstGeom>
          <a:solidFill>
            <a:srgbClr val="F2F5FA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595959"/>
                </a:solidFill>
              </a:rPr>
              <a:t>EBITDA</a:t>
            </a:r>
          </a:p>
          <a:p>
            <a:r>
              <a:rPr sz="3000" b="1">
                <a:solidFill>
                  <a:srgbClr val="1F3864"/>
                </a:solidFill>
              </a:rPr>
              <a:t>₹629 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2651760" cy="2011680"/>
          </a:xfrm>
          <a:prstGeom prst="rect">
            <a:avLst/>
          </a:prstGeom>
          <a:solidFill>
            <a:srgbClr val="F2F5FA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595959"/>
                </a:solidFill>
              </a:rPr>
              <a:t>Net income</a:t>
            </a:r>
          </a:p>
          <a:p>
            <a:r>
              <a:rPr sz="3000" b="1">
                <a:solidFill>
                  <a:srgbClr val="1F3864"/>
                </a:solidFill>
              </a:rPr>
              <a:t>₹350 L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1828800"/>
            <a:ext cx="2651760" cy="2011680"/>
          </a:xfrm>
          <a:prstGeom prst="rect">
            <a:avLst/>
          </a:prstGeom>
          <a:solidFill>
            <a:srgbClr val="F2F5FA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>
                <a:solidFill>
                  <a:srgbClr val="595959"/>
                </a:solidFill>
              </a:rPr>
              <a:t>Ending cash</a:t>
            </a:r>
          </a:p>
          <a:p>
            <a:r>
              <a:rPr sz="3000" b="1">
                <a:solidFill>
                  <a:srgbClr val="1F3864"/>
                </a:solidFill>
              </a:rPr>
              <a:t>₹454 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Management (MIS) numbers · ₹ excl. GST · K01 champion kvr-k01-v1-budget / K02 run 2026-04-06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What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</a:rPr>
              <a:t>the three things that moved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• Dealer network budgeted +12% on FY2025-26 with a stronger November (Deepavali) weight after the CFO's correction</a:t>
            </a:r>
          </a:p>
          <a:p>
            <a:pPr>
              <a:spcAft>
                <a:spcPts val="1000"/>
              </a:spcAft>
            </a:pPr>
            <a:r>
              <a:rPr sz="2000"/>
              <a:t>• Online marketplaces +25% but at 62% COGS incl. commission — lowest contribution channel</a:t>
            </a:r>
          </a:p>
          <a:p>
            <a:pPr>
              <a:spcAft>
                <a:spcPts val="1000"/>
              </a:spcAft>
            </a:pPr>
            <a:r>
              <a:rPr sz="2000"/>
              <a:t>• Imported mechanism LC of ₹1.35 crore retires in week 5 (4 May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Management (MIS) numbers · ₹ excl. GST · K01 champion kvr-k01-v1-budget / K02 run 2026-04-06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Deepavali and Pongal drive the year; Aadi is the trough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</a:rPr>
              <a:t>Right-click chart › Edit Data › paste K01 Export_Rows (revenue, ebitda) · ₹ lakh · 12 months Apr 2026 – Mar 2027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110642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Management (MIS) numbers · ₹ excl. GST · K01 champion kvr-k01-v1-budget / K02 run 2026-04-06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13-week cash dips below zero only in week 5 (LC retirement)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</a:rPr>
              <a:t>raw, unfinanced position · bank flash, unfinanced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7498079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64592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/>
              <a:t>Trough: ₹-31.85 lakh (week 5)</a:t>
            </a:r>
          </a:p>
          <a:p>
            <a:pPr>
              <a:spcAft>
                <a:spcPts val="1200"/>
              </a:spcAft>
            </a:pPr>
            <a:r>
              <a:rPr sz="1800"/>
              <a:t>First negative week: 5</a:t>
            </a:r>
          </a:p>
          <a:p>
            <a:pPr>
              <a:spcAft>
                <a:spcPts val="1200"/>
              </a:spcAft>
            </a:pPr>
            <a:r>
              <a:rPr sz="1800"/>
              <a:t>Recommended: ₹36.63 lakh bridge before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Management (MIS) numbers · ₹ excl. GST · K01 champion kvr-k01-v1-budget / K02 run 2026-04-06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</a:rPr>
              <a:t>three forward risks and what we are doing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/>
              <a:t>• NE monsoon / cyclone disruption to Oct–Dec dispatches (as in Nov 2025)</a:t>
            </a:r>
          </a:p>
          <a:p>
            <a:pPr>
              <a:spcAft>
                <a:spcPts val="1000"/>
              </a:spcAft>
            </a:pPr>
            <a:r>
              <a:rPr sz="2000"/>
              <a:t>• Teak/rubberwood and steel input costs; MSME supplier payments must stay within 45 days</a:t>
            </a:r>
          </a:p>
          <a:p>
            <a:pPr>
              <a:spcAft>
                <a:spcPts val="1000"/>
              </a:spcAft>
            </a:pPr>
            <a:r>
              <a:rPr sz="2000"/>
              <a:t>• Cash-credit drawing power falls if debtor ageing slips past 90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Management (MIS) numbers · ₹ excl. GST · K01 champion kvr-k01-v1-budget / K02 run 2026-04-06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</a:rPr>
              <a:t>decision requested from the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/>
              <a:t>• Approve an ad-hoc cash-credit enhancement of ₹37 lakh (or 30-day LC usance extension) with Indian Bank before week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Management (MIS) numbers · ₹ excl. GST · K01 champion kvr-k01-v1-budget / K02 run 2026-04-06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600" b="1">
                <a:solidFill>
                  <a:srgbClr val="FFFFFF"/>
                </a:solidFill>
              </a:rPr>
              <a:t>Appendix: forecast accuracy and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95959"/>
                </a:solidFill>
              </a:rPr>
              <a:t>memory/scorecard.md · W00 judgment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• No scored forecasts yet (first close: April 2026)</a:t>
            </a:r>
          </a:p>
          <a:p>
            <a:pPr>
              <a:spcAft>
                <a:spcPts val="1000"/>
              </a:spcAft>
            </a:pPr>
            <a:r>
              <a:rPr sz="1800"/>
              <a:t>• Pre-close months: none (budget)</a:t>
            </a:r>
          </a:p>
          <a:p>
            <a:pPr>
              <a:spcAft>
                <a:spcPts val="1000"/>
              </a:spcAft>
            </a:pPr>
            <a:r>
              <a:rPr sz="1800"/>
              <a:t>• Cash basis: bank flash</a:t>
            </a:r>
          </a:p>
          <a:p>
            <a:pPr>
              <a:spcAft>
                <a:spcPts val="1000"/>
              </a:spcAft>
            </a:pPr>
            <a:r>
              <a:rPr sz="1800"/>
              <a:t>• Amounts exclude GST; ₹ lakh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Management (MIS) numbers · ₹ excl. GST · K01 champion kvr-k01-v1-budget / K02 run 2026-04-06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